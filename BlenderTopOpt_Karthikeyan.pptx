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20"/>
  </p:notesMasterIdLst>
  <p:sldIdLst>
    <p:sldId id="256" r:id="rId2"/>
    <p:sldId id="260" r:id="rId3"/>
    <p:sldId id="257" r:id="rId4"/>
    <p:sldId id="259" r:id="rId5"/>
    <p:sldId id="269" r:id="rId6"/>
    <p:sldId id="262" r:id="rId7"/>
    <p:sldId id="263" r:id="rId8"/>
    <p:sldId id="264" r:id="rId9"/>
    <p:sldId id="265" r:id="rId10"/>
    <p:sldId id="278" r:id="rId11"/>
    <p:sldId id="267" r:id="rId12"/>
    <p:sldId id="273" r:id="rId13"/>
    <p:sldId id="275" r:id="rId14"/>
    <p:sldId id="279" r:id="rId15"/>
    <p:sldId id="283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20657-147A-4C19-A8FF-15CFD21746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C07BFF-6779-4982-8304-65BD6AA9EF16}">
      <dgm:prSet/>
      <dgm:spPr/>
      <dgm:t>
        <a:bodyPr/>
        <a:lstStyle/>
        <a:p>
          <a:r>
            <a:rPr lang="en-IN" b="1" dirty="0" err="1"/>
            <a:t>BlenderTopOpt</a:t>
          </a:r>
          <a:r>
            <a:rPr lang="en-IN" dirty="0"/>
            <a:t>, an open-source 2D topology optimisation solver using unstructured triangular meshes was coded in Python using Blender API for user input and </a:t>
          </a:r>
          <a:r>
            <a:rPr lang="en-IN" dirty="0" err="1"/>
            <a:t>Numpy</a:t>
          </a:r>
          <a:r>
            <a:rPr lang="en-IN" dirty="0"/>
            <a:t> and Matplotlib for solution and output.</a:t>
          </a:r>
          <a:endParaRPr lang="en-US" dirty="0"/>
        </a:p>
      </dgm:t>
    </dgm:pt>
    <dgm:pt modelId="{91ED4BA6-1748-40EF-BFE2-2647CBA0560E}" type="parTrans" cxnId="{16D67795-1489-4BAB-B947-4701B810B610}">
      <dgm:prSet/>
      <dgm:spPr/>
      <dgm:t>
        <a:bodyPr/>
        <a:lstStyle/>
        <a:p>
          <a:endParaRPr lang="en-US"/>
        </a:p>
      </dgm:t>
    </dgm:pt>
    <dgm:pt modelId="{39F84AD6-D59D-4160-B199-F0B04700596D}" type="sibTrans" cxnId="{16D67795-1489-4BAB-B947-4701B810B610}">
      <dgm:prSet/>
      <dgm:spPr/>
      <dgm:t>
        <a:bodyPr/>
        <a:lstStyle/>
        <a:p>
          <a:endParaRPr lang="en-US"/>
        </a:p>
      </dgm:t>
    </dgm:pt>
    <dgm:pt modelId="{483A98B8-829A-409C-9265-DC1595B62355}">
      <dgm:prSet/>
      <dgm:spPr/>
      <dgm:t>
        <a:bodyPr/>
        <a:lstStyle/>
        <a:p>
          <a:r>
            <a:rPr lang="en-IN"/>
            <a:t>Found a need for a topopt solver for unstructured meshes and the freedom to model any structure quickly unlike topopt 88 which is very restrictive.</a:t>
          </a:r>
          <a:endParaRPr lang="en-US"/>
        </a:p>
      </dgm:t>
    </dgm:pt>
    <dgm:pt modelId="{679A95BE-AA8A-49B4-BAE3-8D5E184D766D}" type="parTrans" cxnId="{6503CCD5-4D74-48F6-97D1-75F02E188939}">
      <dgm:prSet/>
      <dgm:spPr/>
      <dgm:t>
        <a:bodyPr/>
        <a:lstStyle/>
        <a:p>
          <a:endParaRPr lang="en-US"/>
        </a:p>
      </dgm:t>
    </dgm:pt>
    <dgm:pt modelId="{FB6F754A-DABC-4263-83A9-81BB15195DCC}" type="sibTrans" cxnId="{6503CCD5-4D74-48F6-97D1-75F02E188939}">
      <dgm:prSet/>
      <dgm:spPr/>
      <dgm:t>
        <a:bodyPr/>
        <a:lstStyle/>
        <a:p>
          <a:endParaRPr lang="en-US"/>
        </a:p>
      </dgm:t>
    </dgm:pt>
    <dgm:pt modelId="{C425310A-4062-4382-8666-91CDFD343623}">
      <dgm:prSet/>
      <dgm:spPr/>
      <dgm:t>
        <a:bodyPr/>
        <a:lstStyle/>
        <a:p>
          <a:r>
            <a:rPr lang="en-IN" dirty="0"/>
            <a:t>Allows users to model any 2d surface in Blender using its powerful modelling and 2D meshing capabilities.</a:t>
          </a:r>
        </a:p>
        <a:p>
          <a:r>
            <a:rPr lang="en-US" dirty="0"/>
            <a:t>The goal is to use </a:t>
          </a:r>
          <a:r>
            <a:rPr lang="en-US" dirty="0" err="1"/>
            <a:t>BlenderTopOpt</a:t>
          </a:r>
          <a:r>
            <a:rPr lang="en-US" dirty="0"/>
            <a:t> for optimizing a spanner and other common scenarios like bridges and validate it with established software</a:t>
          </a:r>
        </a:p>
      </dgm:t>
    </dgm:pt>
    <dgm:pt modelId="{0225A281-F88C-4C09-9442-66D78DE4356C}" type="parTrans" cxnId="{10C65A82-F9D2-42F2-B2BC-8EF539879A82}">
      <dgm:prSet/>
      <dgm:spPr/>
      <dgm:t>
        <a:bodyPr/>
        <a:lstStyle/>
        <a:p>
          <a:endParaRPr lang="en-US"/>
        </a:p>
      </dgm:t>
    </dgm:pt>
    <dgm:pt modelId="{FAD643F2-5009-4FD1-98C5-C44CFB22DE2D}" type="sibTrans" cxnId="{10C65A82-F9D2-42F2-B2BC-8EF539879A82}">
      <dgm:prSet/>
      <dgm:spPr/>
      <dgm:t>
        <a:bodyPr/>
        <a:lstStyle/>
        <a:p>
          <a:endParaRPr lang="en-US"/>
        </a:p>
      </dgm:t>
    </dgm:pt>
    <dgm:pt modelId="{68C006B8-29AD-4802-98F3-B53E554DB13C}">
      <dgm:prSet/>
      <dgm:spPr/>
      <dgm:t>
        <a:bodyPr/>
        <a:lstStyle/>
        <a:p>
          <a:r>
            <a:rPr lang="en-IN" dirty="0"/>
            <a:t>Uses 2D CST elements for finite element analysis.</a:t>
          </a:r>
          <a:endParaRPr lang="en-US" dirty="0"/>
        </a:p>
      </dgm:t>
    </dgm:pt>
    <dgm:pt modelId="{1BB2A266-7F80-4F23-8167-D9A5040843DD}" type="parTrans" cxnId="{B7B17C5C-7C4B-4AF6-9653-FE169CB9EF91}">
      <dgm:prSet/>
      <dgm:spPr/>
      <dgm:t>
        <a:bodyPr/>
        <a:lstStyle/>
        <a:p>
          <a:endParaRPr lang="en-US"/>
        </a:p>
      </dgm:t>
    </dgm:pt>
    <dgm:pt modelId="{482903D6-54FA-4EF4-A75A-361BD31621C9}" type="sibTrans" cxnId="{B7B17C5C-7C4B-4AF6-9653-FE169CB9EF91}">
      <dgm:prSet/>
      <dgm:spPr/>
      <dgm:t>
        <a:bodyPr/>
        <a:lstStyle/>
        <a:p>
          <a:endParaRPr lang="en-US"/>
        </a:p>
      </dgm:t>
    </dgm:pt>
    <dgm:pt modelId="{0B51C641-3C4A-46A6-A7D3-1144BFD31B30}" type="pres">
      <dgm:prSet presAssocID="{38B20657-147A-4C19-A8FF-15CFD2174674}" presName="root" presStyleCnt="0">
        <dgm:presLayoutVars>
          <dgm:dir/>
          <dgm:resizeHandles val="exact"/>
        </dgm:presLayoutVars>
      </dgm:prSet>
      <dgm:spPr/>
    </dgm:pt>
    <dgm:pt modelId="{848EFFE5-DFE5-4CB2-AA79-5FF89B192A97}" type="pres">
      <dgm:prSet presAssocID="{C2C07BFF-6779-4982-8304-65BD6AA9EF16}" presName="compNode" presStyleCnt="0"/>
      <dgm:spPr/>
    </dgm:pt>
    <dgm:pt modelId="{3B1BBBC4-38C4-4A11-A4FF-B603B90285DE}" type="pres">
      <dgm:prSet presAssocID="{C2C07BFF-6779-4982-8304-65BD6AA9EF16}" presName="bgRect" presStyleLbl="bgShp" presStyleIdx="0" presStyleCnt="4"/>
      <dgm:spPr/>
    </dgm:pt>
    <dgm:pt modelId="{897C7A9C-80AE-435F-BBAB-7084721C840B}" type="pres">
      <dgm:prSet presAssocID="{C2C07BFF-6779-4982-8304-65BD6AA9EF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2B19BC4-DD45-4B0F-BDC5-CD5FAC418D9A}" type="pres">
      <dgm:prSet presAssocID="{C2C07BFF-6779-4982-8304-65BD6AA9EF16}" presName="spaceRect" presStyleCnt="0"/>
      <dgm:spPr/>
    </dgm:pt>
    <dgm:pt modelId="{6581905C-5833-4501-9D62-DBB23255F65B}" type="pres">
      <dgm:prSet presAssocID="{C2C07BFF-6779-4982-8304-65BD6AA9EF16}" presName="parTx" presStyleLbl="revTx" presStyleIdx="0" presStyleCnt="4">
        <dgm:presLayoutVars>
          <dgm:chMax val="0"/>
          <dgm:chPref val="0"/>
        </dgm:presLayoutVars>
      </dgm:prSet>
      <dgm:spPr/>
    </dgm:pt>
    <dgm:pt modelId="{8FC304D9-F241-410F-BFE8-19BBE92A7716}" type="pres">
      <dgm:prSet presAssocID="{39F84AD6-D59D-4160-B199-F0B04700596D}" presName="sibTrans" presStyleCnt="0"/>
      <dgm:spPr/>
    </dgm:pt>
    <dgm:pt modelId="{3A00F1C3-2D39-4F31-B90B-C26F20681D67}" type="pres">
      <dgm:prSet presAssocID="{483A98B8-829A-409C-9265-DC1595B62355}" presName="compNode" presStyleCnt="0"/>
      <dgm:spPr/>
    </dgm:pt>
    <dgm:pt modelId="{673AD803-FC87-4D9D-9BD0-8251779CBF30}" type="pres">
      <dgm:prSet presAssocID="{483A98B8-829A-409C-9265-DC1595B62355}" presName="bgRect" presStyleLbl="bgShp" presStyleIdx="1" presStyleCnt="4"/>
      <dgm:spPr/>
    </dgm:pt>
    <dgm:pt modelId="{9DA6CF79-7871-46E2-B6B1-8777EF3CC300}" type="pres">
      <dgm:prSet presAssocID="{483A98B8-829A-409C-9265-DC1595B623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7278A94-7CD1-49B6-A3FF-6BD34A410C2F}" type="pres">
      <dgm:prSet presAssocID="{483A98B8-829A-409C-9265-DC1595B62355}" presName="spaceRect" presStyleCnt="0"/>
      <dgm:spPr/>
    </dgm:pt>
    <dgm:pt modelId="{8D49F074-DDB5-4563-94A9-B9002FA6BEFC}" type="pres">
      <dgm:prSet presAssocID="{483A98B8-829A-409C-9265-DC1595B62355}" presName="parTx" presStyleLbl="revTx" presStyleIdx="1" presStyleCnt="4">
        <dgm:presLayoutVars>
          <dgm:chMax val="0"/>
          <dgm:chPref val="0"/>
        </dgm:presLayoutVars>
      </dgm:prSet>
      <dgm:spPr/>
    </dgm:pt>
    <dgm:pt modelId="{22E07E1C-86DF-4904-8010-B2E606D96943}" type="pres">
      <dgm:prSet presAssocID="{FB6F754A-DABC-4263-83A9-81BB15195DCC}" presName="sibTrans" presStyleCnt="0"/>
      <dgm:spPr/>
    </dgm:pt>
    <dgm:pt modelId="{9393BC73-5C44-41BF-B6F0-927C678D7601}" type="pres">
      <dgm:prSet presAssocID="{C425310A-4062-4382-8666-91CDFD343623}" presName="compNode" presStyleCnt="0"/>
      <dgm:spPr/>
    </dgm:pt>
    <dgm:pt modelId="{A3124009-4434-4DF1-ABFB-7DAF905001FE}" type="pres">
      <dgm:prSet presAssocID="{C425310A-4062-4382-8666-91CDFD343623}" presName="bgRect" presStyleLbl="bgShp" presStyleIdx="2" presStyleCnt="4"/>
      <dgm:spPr/>
    </dgm:pt>
    <dgm:pt modelId="{34B87C7A-478C-46D5-AD33-A02C92234BF4}" type="pres">
      <dgm:prSet presAssocID="{C425310A-4062-4382-8666-91CDFD3436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0E4F128-1C01-4853-B36D-F7C907FB79F3}" type="pres">
      <dgm:prSet presAssocID="{C425310A-4062-4382-8666-91CDFD343623}" presName="spaceRect" presStyleCnt="0"/>
      <dgm:spPr/>
    </dgm:pt>
    <dgm:pt modelId="{77ECD45E-482C-47E5-8BA3-9767EBFFC1E2}" type="pres">
      <dgm:prSet presAssocID="{C425310A-4062-4382-8666-91CDFD343623}" presName="parTx" presStyleLbl="revTx" presStyleIdx="2" presStyleCnt="4">
        <dgm:presLayoutVars>
          <dgm:chMax val="0"/>
          <dgm:chPref val="0"/>
        </dgm:presLayoutVars>
      </dgm:prSet>
      <dgm:spPr/>
    </dgm:pt>
    <dgm:pt modelId="{90184F4A-41E0-40A6-A92A-61F793B8FA66}" type="pres">
      <dgm:prSet presAssocID="{FAD643F2-5009-4FD1-98C5-C44CFB22DE2D}" presName="sibTrans" presStyleCnt="0"/>
      <dgm:spPr/>
    </dgm:pt>
    <dgm:pt modelId="{CF18A7DC-9A9C-4E51-A160-F6D5FF12FCA9}" type="pres">
      <dgm:prSet presAssocID="{68C006B8-29AD-4802-98F3-B53E554DB13C}" presName="compNode" presStyleCnt="0"/>
      <dgm:spPr/>
    </dgm:pt>
    <dgm:pt modelId="{7773F0B4-0615-4D54-BC9E-6EF9183AB567}" type="pres">
      <dgm:prSet presAssocID="{68C006B8-29AD-4802-98F3-B53E554DB13C}" presName="bgRect" presStyleLbl="bgShp" presStyleIdx="3" presStyleCnt="4"/>
      <dgm:spPr/>
    </dgm:pt>
    <dgm:pt modelId="{F50D332F-CB1D-417A-8EA5-60C574DF2021}" type="pres">
      <dgm:prSet presAssocID="{68C006B8-29AD-4802-98F3-B53E554DB1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CB36D54-6450-4182-994C-643F49D4244A}" type="pres">
      <dgm:prSet presAssocID="{68C006B8-29AD-4802-98F3-B53E554DB13C}" presName="spaceRect" presStyleCnt="0"/>
      <dgm:spPr/>
    </dgm:pt>
    <dgm:pt modelId="{F9C8BC43-A108-438E-BB00-760897C18058}" type="pres">
      <dgm:prSet presAssocID="{68C006B8-29AD-4802-98F3-B53E554DB1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7B17C5C-7C4B-4AF6-9653-FE169CB9EF91}" srcId="{38B20657-147A-4C19-A8FF-15CFD2174674}" destId="{68C006B8-29AD-4802-98F3-B53E554DB13C}" srcOrd="3" destOrd="0" parTransId="{1BB2A266-7F80-4F23-8167-D9A5040843DD}" sibTransId="{482903D6-54FA-4EF4-A75A-361BD31621C9}"/>
    <dgm:cxn modelId="{A2D85866-E8B3-448A-BABF-B253F23C96A7}" type="presOf" srcId="{483A98B8-829A-409C-9265-DC1595B62355}" destId="{8D49F074-DDB5-4563-94A9-B9002FA6BEFC}" srcOrd="0" destOrd="0" presId="urn:microsoft.com/office/officeart/2018/2/layout/IconVerticalSolidList"/>
    <dgm:cxn modelId="{FBED6A73-84F0-48F2-B3CE-1DA4A13D09FE}" type="presOf" srcId="{38B20657-147A-4C19-A8FF-15CFD2174674}" destId="{0B51C641-3C4A-46A6-A7D3-1144BFD31B30}" srcOrd="0" destOrd="0" presId="urn:microsoft.com/office/officeart/2018/2/layout/IconVerticalSolidList"/>
    <dgm:cxn modelId="{10C65A82-F9D2-42F2-B2BC-8EF539879A82}" srcId="{38B20657-147A-4C19-A8FF-15CFD2174674}" destId="{C425310A-4062-4382-8666-91CDFD343623}" srcOrd="2" destOrd="0" parTransId="{0225A281-F88C-4C09-9442-66D78DE4356C}" sibTransId="{FAD643F2-5009-4FD1-98C5-C44CFB22DE2D}"/>
    <dgm:cxn modelId="{16D67795-1489-4BAB-B947-4701B810B610}" srcId="{38B20657-147A-4C19-A8FF-15CFD2174674}" destId="{C2C07BFF-6779-4982-8304-65BD6AA9EF16}" srcOrd="0" destOrd="0" parTransId="{91ED4BA6-1748-40EF-BFE2-2647CBA0560E}" sibTransId="{39F84AD6-D59D-4160-B199-F0B04700596D}"/>
    <dgm:cxn modelId="{488FDFAB-83D0-407F-A2BE-E56EC87245C2}" type="presOf" srcId="{C2C07BFF-6779-4982-8304-65BD6AA9EF16}" destId="{6581905C-5833-4501-9D62-DBB23255F65B}" srcOrd="0" destOrd="0" presId="urn:microsoft.com/office/officeart/2018/2/layout/IconVerticalSolidList"/>
    <dgm:cxn modelId="{782584D4-C651-4B6E-930C-4C226B11E7F6}" type="presOf" srcId="{68C006B8-29AD-4802-98F3-B53E554DB13C}" destId="{F9C8BC43-A108-438E-BB00-760897C18058}" srcOrd="0" destOrd="0" presId="urn:microsoft.com/office/officeart/2018/2/layout/IconVerticalSolidList"/>
    <dgm:cxn modelId="{6503CCD5-4D74-48F6-97D1-75F02E188939}" srcId="{38B20657-147A-4C19-A8FF-15CFD2174674}" destId="{483A98B8-829A-409C-9265-DC1595B62355}" srcOrd="1" destOrd="0" parTransId="{679A95BE-AA8A-49B4-BAE3-8D5E184D766D}" sibTransId="{FB6F754A-DABC-4263-83A9-81BB15195DCC}"/>
    <dgm:cxn modelId="{252FEED7-69F4-4F9E-8D35-06CA51CBD9FE}" type="presOf" srcId="{C425310A-4062-4382-8666-91CDFD343623}" destId="{77ECD45E-482C-47E5-8BA3-9767EBFFC1E2}" srcOrd="0" destOrd="0" presId="urn:microsoft.com/office/officeart/2018/2/layout/IconVerticalSolidList"/>
    <dgm:cxn modelId="{5F0C5B96-3C15-4FA3-910A-3D3D58771863}" type="presParOf" srcId="{0B51C641-3C4A-46A6-A7D3-1144BFD31B30}" destId="{848EFFE5-DFE5-4CB2-AA79-5FF89B192A97}" srcOrd="0" destOrd="0" presId="urn:microsoft.com/office/officeart/2018/2/layout/IconVerticalSolidList"/>
    <dgm:cxn modelId="{E326DC82-6812-482F-885E-71A2A1604D56}" type="presParOf" srcId="{848EFFE5-DFE5-4CB2-AA79-5FF89B192A97}" destId="{3B1BBBC4-38C4-4A11-A4FF-B603B90285DE}" srcOrd="0" destOrd="0" presId="urn:microsoft.com/office/officeart/2018/2/layout/IconVerticalSolidList"/>
    <dgm:cxn modelId="{DF613351-37E2-4598-A620-54B1DD15361B}" type="presParOf" srcId="{848EFFE5-DFE5-4CB2-AA79-5FF89B192A97}" destId="{897C7A9C-80AE-435F-BBAB-7084721C840B}" srcOrd="1" destOrd="0" presId="urn:microsoft.com/office/officeart/2018/2/layout/IconVerticalSolidList"/>
    <dgm:cxn modelId="{A784EFDF-BF3B-4D16-B8F6-8D0E520FE88F}" type="presParOf" srcId="{848EFFE5-DFE5-4CB2-AA79-5FF89B192A97}" destId="{82B19BC4-DD45-4B0F-BDC5-CD5FAC418D9A}" srcOrd="2" destOrd="0" presId="urn:microsoft.com/office/officeart/2018/2/layout/IconVerticalSolidList"/>
    <dgm:cxn modelId="{333ECF49-BDB6-44B5-A1D9-2224A4099909}" type="presParOf" srcId="{848EFFE5-DFE5-4CB2-AA79-5FF89B192A97}" destId="{6581905C-5833-4501-9D62-DBB23255F65B}" srcOrd="3" destOrd="0" presId="urn:microsoft.com/office/officeart/2018/2/layout/IconVerticalSolidList"/>
    <dgm:cxn modelId="{6A033FCE-C109-415F-B2AD-D9CB7D340D30}" type="presParOf" srcId="{0B51C641-3C4A-46A6-A7D3-1144BFD31B30}" destId="{8FC304D9-F241-410F-BFE8-19BBE92A7716}" srcOrd="1" destOrd="0" presId="urn:microsoft.com/office/officeart/2018/2/layout/IconVerticalSolidList"/>
    <dgm:cxn modelId="{C5778E3E-1D23-4F69-8418-9F46A800B0F3}" type="presParOf" srcId="{0B51C641-3C4A-46A6-A7D3-1144BFD31B30}" destId="{3A00F1C3-2D39-4F31-B90B-C26F20681D67}" srcOrd="2" destOrd="0" presId="urn:microsoft.com/office/officeart/2018/2/layout/IconVerticalSolidList"/>
    <dgm:cxn modelId="{5FD50049-B3CA-4FD2-8FBE-8E0948AC7A31}" type="presParOf" srcId="{3A00F1C3-2D39-4F31-B90B-C26F20681D67}" destId="{673AD803-FC87-4D9D-9BD0-8251779CBF30}" srcOrd="0" destOrd="0" presId="urn:microsoft.com/office/officeart/2018/2/layout/IconVerticalSolidList"/>
    <dgm:cxn modelId="{D80AC54D-B95A-4604-B0BA-AA50EC42C608}" type="presParOf" srcId="{3A00F1C3-2D39-4F31-B90B-C26F20681D67}" destId="{9DA6CF79-7871-46E2-B6B1-8777EF3CC300}" srcOrd="1" destOrd="0" presId="urn:microsoft.com/office/officeart/2018/2/layout/IconVerticalSolidList"/>
    <dgm:cxn modelId="{733B05CD-BF9C-4FA2-9656-805C0E3FA530}" type="presParOf" srcId="{3A00F1C3-2D39-4F31-B90B-C26F20681D67}" destId="{B7278A94-7CD1-49B6-A3FF-6BD34A410C2F}" srcOrd="2" destOrd="0" presId="urn:microsoft.com/office/officeart/2018/2/layout/IconVerticalSolidList"/>
    <dgm:cxn modelId="{A1A5FC9E-9EBB-4346-96AC-609CC6F98BEB}" type="presParOf" srcId="{3A00F1C3-2D39-4F31-B90B-C26F20681D67}" destId="{8D49F074-DDB5-4563-94A9-B9002FA6BEFC}" srcOrd="3" destOrd="0" presId="urn:microsoft.com/office/officeart/2018/2/layout/IconVerticalSolidList"/>
    <dgm:cxn modelId="{ABFA0C57-A183-4E46-A5B3-158D08F04276}" type="presParOf" srcId="{0B51C641-3C4A-46A6-A7D3-1144BFD31B30}" destId="{22E07E1C-86DF-4904-8010-B2E606D96943}" srcOrd="3" destOrd="0" presId="urn:microsoft.com/office/officeart/2018/2/layout/IconVerticalSolidList"/>
    <dgm:cxn modelId="{78B8F9FD-79A5-4781-BB26-ED1D86304B21}" type="presParOf" srcId="{0B51C641-3C4A-46A6-A7D3-1144BFD31B30}" destId="{9393BC73-5C44-41BF-B6F0-927C678D7601}" srcOrd="4" destOrd="0" presId="urn:microsoft.com/office/officeart/2018/2/layout/IconVerticalSolidList"/>
    <dgm:cxn modelId="{155F7232-4647-4C72-BF89-3B2A7B04033D}" type="presParOf" srcId="{9393BC73-5C44-41BF-B6F0-927C678D7601}" destId="{A3124009-4434-4DF1-ABFB-7DAF905001FE}" srcOrd="0" destOrd="0" presId="urn:microsoft.com/office/officeart/2018/2/layout/IconVerticalSolidList"/>
    <dgm:cxn modelId="{AD712712-84EA-49DD-BC37-3C12BB27A8CF}" type="presParOf" srcId="{9393BC73-5C44-41BF-B6F0-927C678D7601}" destId="{34B87C7A-478C-46D5-AD33-A02C92234BF4}" srcOrd="1" destOrd="0" presId="urn:microsoft.com/office/officeart/2018/2/layout/IconVerticalSolidList"/>
    <dgm:cxn modelId="{86FB12A5-330A-437E-90E8-99BB2758D795}" type="presParOf" srcId="{9393BC73-5C44-41BF-B6F0-927C678D7601}" destId="{D0E4F128-1C01-4853-B36D-F7C907FB79F3}" srcOrd="2" destOrd="0" presId="urn:microsoft.com/office/officeart/2018/2/layout/IconVerticalSolidList"/>
    <dgm:cxn modelId="{3BA95628-B0AA-4852-973E-7CA367663647}" type="presParOf" srcId="{9393BC73-5C44-41BF-B6F0-927C678D7601}" destId="{77ECD45E-482C-47E5-8BA3-9767EBFFC1E2}" srcOrd="3" destOrd="0" presId="urn:microsoft.com/office/officeart/2018/2/layout/IconVerticalSolidList"/>
    <dgm:cxn modelId="{4A2BBDBB-08B9-445F-8952-A41C79781DB4}" type="presParOf" srcId="{0B51C641-3C4A-46A6-A7D3-1144BFD31B30}" destId="{90184F4A-41E0-40A6-A92A-61F793B8FA66}" srcOrd="5" destOrd="0" presId="urn:microsoft.com/office/officeart/2018/2/layout/IconVerticalSolidList"/>
    <dgm:cxn modelId="{E628A230-4036-4753-AE29-298B9C03A56E}" type="presParOf" srcId="{0B51C641-3C4A-46A6-A7D3-1144BFD31B30}" destId="{CF18A7DC-9A9C-4E51-A160-F6D5FF12FCA9}" srcOrd="6" destOrd="0" presId="urn:microsoft.com/office/officeart/2018/2/layout/IconVerticalSolidList"/>
    <dgm:cxn modelId="{7E27320B-385D-45B3-8E0A-E1CA73BADAB7}" type="presParOf" srcId="{CF18A7DC-9A9C-4E51-A160-F6D5FF12FCA9}" destId="{7773F0B4-0615-4D54-BC9E-6EF9183AB567}" srcOrd="0" destOrd="0" presId="urn:microsoft.com/office/officeart/2018/2/layout/IconVerticalSolidList"/>
    <dgm:cxn modelId="{113DF90F-D7D8-4DEC-B35C-2EF24C781FBF}" type="presParOf" srcId="{CF18A7DC-9A9C-4E51-A160-F6D5FF12FCA9}" destId="{F50D332F-CB1D-417A-8EA5-60C574DF2021}" srcOrd="1" destOrd="0" presId="urn:microsoft.com/office/officeart/2018/2/layout/IconVerticalSolidList"/>
    <dgm:cxn modelId="{311F582E-7FBD-4862-B2FF-944AD9686F53}" type="presParOf" srcId="{CF18A7DC-9A9C-4E51-A160-F6D5FF12FCA9}" destId="{3CB36D54-6450-4182-994C-643F49D4244A}" srcOrd="2" destOrd="0" presId="urn:microsoft.com/office/officeart/2018/2/layout/IconVerticalSolidList"/>
    <dgm:cxn modelId="{9023DD7F-CEED-4056-97C3-1EB9882C7B34}" type="presParOf" srcId="{CF18A7DC-9A9C-4E51-A160-F6D5FF12FCA9}" destId="{F9C8BC43-A108-438E-BB00-760897C180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BBBC4-38C4-4A11-A4FF-B603B90285DE}">
      <dsp:nvSpPr>
        <dsp:cNvPr id="0" name=""/>
        <dsp:cNvSpPr/>
      </dsp:nvSpPr>
      <dsp:spPr>
        <a:xfrm>
          <a:off x="0" y="3701"/>
          <a:ext cx="5659056" cy="1280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C7A9C-80AE-435F-BBAB-7084721C840B}">
      <dsp:nvSpPr>
        <dsp:cNvPr id="0" name=""/>
        <dsp:cNvSpPr/>
      </dsp:nvSpPr>
      <dsp:spPr>
        <a:xfrm>
          <a:off x="387278" y="291759"/>
          <a:ext cx="704830" cy="7041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1905C-5833-4501-9D62-DBB23255F65B}">
      <dsp:nvSpPr>
        <dsp:cNvPr id="0" name=""/>
        <dsp:cNvSpPr/>
      </dsp:nvSpPr>
      <dsp:spPr>
        <a:xfrm>
          <a:off x="1479387" y="3701"/>
          <a:ext cx="3850909" cy="1281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627" tIns="135627" rIns="135627" bIns="1356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/>
            <a:t>BlenderTopOpt</a:t>
          </a:r>
          <a:r>
            <a:rPr lang="en-IN" sz="1400" kern="1200" dirty="0"/>
            <a:t>, an open-source 2D topology optimisation solver using unstructured triangular meshes was coded in Python using Blender API for user input and </a:t>
          </a:r>
          <a:r>
            <a:rPr lang="en-IN" sz="1400" kern="1200" dirty="0" err="1"/>
            <a:t>Numpy</a:t>
          </a:r>
          <a:r>
            <a:rPr lang="en-IN" sz="1400" kern="1200" dirty="0"/>
            <a:t> and Matplotlib for solution and output.</a:t>
          </a:r>
          <a:endParaRPr lang="en-US" sz="1400" kern="1200" dirty="0"/>
        </a:p>
      </dsp:txBody>
      <dsp:txXfrm>
        <a:off x="1479387" y="3701"/>
        <a:ext cx="3850909" cy="1281510"/>
      </dsp:txXfrm>
    </dsp:sp>
    <dsp:sp modelId="{673AD803-FC87-4D9D-9BD0-8251779CBF30}">
      <dsp:nvSpPr>
        <dsp:cNvPr id="0" name=""/>
        <dsp:cNvSpPr/>
      </dsp:nvSpPr>
      <dsp:spPr>
        <a:xfrm>
          <a:off x="0" y="1595881"/>
          <a:ext cx="5659056" cy="1280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6CF79-7871-46E2-B6B1-8777EF3CC300}">
      <dsp:nvSpPr>
        <dsp:cNvPr id="0" name=""/>
        <dsp:cNvSpPr/>
      </dsp:nvSpPr>
      <dsp:spPr>
        <a:xfrm>
          <a:off x="387278" y="1883939"/>
          <a:ext cx="704830" cy="7041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9F074-DDB5-4563-94A9-B9002FA6BEFC}">
      <dsp:nvSpPr>
        <dsp:cNvPr id="0" name=""/>
        <dsp:cNvSpPr/>
      </dsp:nvSpPr>
      <dsp:spPr>
        <a:xfrm>
          <a:off x="1479387" y="1595881"/>
          <a:ext cx="3850909" cy="1281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627" tIns="135627" rIns="135627" bIns="1356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Found a need for a topopt solver for unstructured meshes and the freedom to model any structure quickly unlike topopt 88 which is very restrictive.</a:t>
          </a:r>
          <a:endParaRPr lang="en-US" sz="1400" kern="1200"/>
        </a:p>
      </dsp:txBody>
      <dsp:txXfrm>
        <a:off x="1479387" y="1595881"/>
        <a:ext cx="3850909" cy="1281510"/>
      </dsp:txXfrm>
    </dsp:sp>
    <dsp:sp modelId="{A3124009-4434-4DF1-ABFB-7DAF905001FE}">
      <dsp:nvSpPr>
        <dsp:cNvPr id="0" name=""/>
        <dsp:cNvSpPr/>
      </dsp:nvSpPr>
      <dsp:spPr>
        <a:xfrm>
          <a:off x="0" y="3188061"/>
          <a:ext cx="5659056" cy="1280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87C7A-478C-46D5-AD33-A02C92234BF4}">
      <dsp:nvSpPr>
        <dsp:cNvPr id="0" name=""/>
        <dsp:cNvSpPr/>
      </dsp:nvSpPr>
      <dsp:spPr>
        <a:xfrm>
          <a:off x="387278" y="3476120"/>
          <a:ext cx="704830" cy="7041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CD45E-482C-47E5-8BA3-9767EBFFC1E2}">
      <dsp:nvSpPr>
        <dsp:cNvPr id="0" name=""/>
        <dsp:cNvSpPr/>
      </dsp:nvSpPr>
      <dsp:spPr>
        <a:xfrm>
          <a:off x="1479387" y="3188061"/>
          <a:ext cx="3850909" cy="1281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627" tIns="135627" rIns="135627" bIns="1356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Allows users to model any 2d surface in Blender using its powerful modelling and 2D meshing capabilities.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goal is to use </a:t>
          </a:r>
          <a:r>
            <a:rPr lang="en-US" sz="1400" kern="1200" dirty="0" err="1"/>
            <a:t>BlenderTopOpt</a:t>
          </a:r>
          <a:r>
            <a:rPr lang="en-US" sz="1400" kern="1200" dirty="0"/>
            <a:t> for optimizing a spanner and other common scenarios like bridges and validate it with established software</a:t>
          </a:r>
        </a:p>
      </dsp:txBody>
      <dsp:txXfrm>
        <a:off x="1479387" y="3188061"/>
        <a:ext cx="3850909" cy="1281510"/>
      </dsp:txXfrm>
    </dsp:sp>
    <dsp:sp modelId="{7773F0B4-0615-4D54-BC9E-6EF9183AB567}">
      <dsp:nvSpPr>
        <dsp:cNvPr id="0" name=""/>
        <dsp:cNvSpPr/>
      </dsp:nvSpPr>
      <dsp:spPr>
        <a:xfrm>
          <a:off x="0" y="4780241"/>
          <a:ext cx="5659056" cy="12802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D332F-CB1D-417A-8EA5-60C574DF2021}">
      <dsp:nvSpPr>
        <dsp:cNvPr id="0" name=""/>
        <dsp:cNvSpPr/>
      </dsp:nvSpPr>
      <dsp:spPr>
        <a:xfrm>
          <a:off x="387278" y="5068300"/>
          <a:ext cx="704830" cy="7041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8BC43-A108-438E-BB00-760897C18058}">
      <dsp:nvSpPr>
        <dsp:cNvPr id="0" name=""/>
        <dsp:cNvSpPr/>
      </dsp:nvSpPr>
      <dsp:spPr>
        <a:xfrm>
          <a:off x="1479387" y="4780241"/>
          <a:ext cx="3850909" cy="12815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627" tIns="135627" rIns="135627" bIns="1356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Uses 2D CST elements for finite element analysis.</a:t>
          </a:r>
          <a:endParaRPr lang="en-US" sz="1400" kern="1200" dirty="0"/>
        </a:p>
      </dsp:txBody>
      <dsp:txXfrm>
        <a:off x="1479387" y="4780241"/>
        <a:ext cx="3850909" cy="1281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3083-04FB-4D09-BCEA-844B0E73086F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42706-8213-442A-84C6-D8E89B48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66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42706-8213-442A-84C6-D8E89B48AFC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77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40F3-BE88-CC10-EF19-046109880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D18AF-931C-F993-913A-E78EBF29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5609-69C0-862A-BF94-AA11EFB5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A12EB-F8C3-7D42-04CD-C6EE0192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A6D79-A862-30D5-C289-73A0BD8D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32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9E24-A87E-03B4-4F9C-9AFAB7BA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15C80-5490-68DB-7783-CC4C2F51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D30A7-7B8F-28CA-4B9C-58C540BA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7DF99-EC07-EE7C-0D66-841A9F4D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600B-C000-FD25-62C2-B6AEEDF4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536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FE9F-3DD4-FE02-B312-DA3A5581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A485D-0F67-5F45-D080-1AC51494B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47B4F-4AB1-511D-732A-136AC801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EF4C-5DE0-29DE-45FE-A7DC500C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65B2-EFA0-EF13-C6EE-056A2534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9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C420-AB39-5E39-C00E-A665D4B5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C2E5-7C95-DE6A-A335-B112D9BA7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E1219-79F0-E772-D00B-D18B4D9B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EDD5C-E4E4-C985-79B6-2B019CD6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2510C-585C-845D-33B8-F966EC11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A1855-228D-01A0-6AA0-5BB6E765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510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F8A0-3BA1-C017-EDFC-419BD41F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F5CE6-BB00-B341-1162-27325C13C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E233B-F505-27D6-7A71-692940D04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1EEDD-F97C-FC1F-DA75-F4FF3F7AE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AF9EC-E366-40CB-D6ED-D78450A3A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185B-DA84-6F07-1D7F-A0631333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10B6C-FEF4-8A83-0560-E938AB25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06AD1-AA3B-EA25-3983-A8F730DF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708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1567-ADB8-0F15-7944-225307F4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07AEB-47C3-B8DE-0A7D-1FBBAC8E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46091-DEE0-80B2-2C58-01727A02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E1769-D437-85D2-8DAA-ED0E2E58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5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F91A7-5891-4963-664F-AA02C308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86A9D-0E66-BFBC-3064-2E108E92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ECFE2-8AB1-24C8-6F5F-D066E43F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8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591F-B4CD-31BE-E065-62F22F1E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A60C-3171-6CFE-60AB-AA1467790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2BD49-BA43-4FC8-FC95-93677EC5F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5D7D4-1264-DD8B-E548-EF5DF7C8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E32A0-849F-88F9-7EA8-A06AEC91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D7EE1-A28D-5ED0-B35B-AE43B50B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669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D580-9A7F-E689-F7D3-CDF22A93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94DDB-25F0-9E12-7D66-BB6BD9997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7348-D01F-A8E2-25FC-52A32F95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CE6F2-87D8-7B88-9E0D-8D1B7A1D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78C66-9AF4-51B9-C22E-6F27E774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747F4-ED0A-E350-CF83-192FDBA5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1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35EA-1E66-86B1-5877-CE5F6E0C3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23D52-039A-5CC8-68B2-6409E9219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A95B-9575-A427-1BED-250F1913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E4D0-19E7-72B8-4070-220D1129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D8164-AFBB-A6BF-31C1-9B577D1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537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15D430-D075-174E-CE57-0F84224CD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8CEC7-7106-BEB4-479E-38F2EB49C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CDD73-FF75-6304-2545-631B2E23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599B-30F1-1230-1271-B7395166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0C01D-7154-6E9E-F36E-FD787287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137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2A69F-ABBC-6581-31C3-39ED922D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BCB6F-6B5B-0D23-7686-1F3761729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EE8D-0B4E-DBAF-5337-090397533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4DE2F-DBE7-F6A3-6E29-A019546E4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FC60-7A91-410F-A4E1-F16EFB3AF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088F-0372-CFF4-120A-A5E17A0DA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108" y="1129554"/>
            <a:ext cx="4837476" cy="3043547"/>
          </a:xfrm>
        </p:spPr>
        <p:txBody>
          <a:bodyPr>
            <a:noAutofit/>
          </a:bodyPr>
          <a:lstStyle/>
          <a:p>
            <a:pPr algn="l"/>
            <a:r>
              <a:rPr lang="en-IN" sz="3600" dirty="0"/>
              <a:t>2D Topology optimisation code for unstructured meshes in Blender (</a:t>
            </a:r>
            <a:r>
              <a:rPr lang="en-IN" sz="3600" dirty="0" err="1"/>
              <a:t>BlenderTopOpt</a:t>
            </a:r>
            <a:r>
              <a:rPr lang="en-IN" sz="3600" dirty="0"/>
              <a:t>) and its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01080-1ECD-A6F5-D83D-0F1D7BA3D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A presentation by:</a:t>
            </a:r>
          </a:p>
          <a:p>
            <a:pPr algn="l"/>
            <a:r>
              <a:rPr lang="en-IN" dirty="0"/>
              <a:t>Karthikeyan</a:t>
            </a: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7753F561-1E48-36CC-D45C-6C4B3A6E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5" r="11785" b="-1"/>
          <a:stretch/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3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0">
        <p:fade/>
      </p:transition>
    </mc:Choice>
    <mc:Fallback xmlns="">
      <p:transition spd="med" advClick="0" advTm="3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3DDFA3-372A-CCC7-AF11-A51CB549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5600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2A28AE0F-3CD2-ED88-DD27-9FF9826D89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6105301"/>
              </p:ext>
            </p:extLst>
          </p:nvPr>
        </p:nvGraphicFramePr>
        <p:xfrm>
          <a:off x="5898630" y="269823"/>
          <a:ext cx="5659056" cy="6065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A close up of a person's head&#10;&#10;AI-generated content may be incorrect.">
            <a:extLst>
              <a:ext uri="{FF2B5EF4-FFF2-40B4-BE49-F238E27FC236}">
                <a16:creationId xmlns:a16="http://schemas.microsoft.com/office/drawing/2014/main" id="{79D4B322-43A3-1E37-DC00-2150E5A89B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4" y="2577215"/>
            <a:ext cx="47434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7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8EB3-D5EE-3BEA-C58D-84E53A9D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Blender and 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 unstructured meshes?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C9B11-CA1A-E36F-4B30-DF164A027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77176" y="1792224"/>
            <a:ext cx="4307527" cy="4517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Blender is an amazing open-source tool to model surfaces in 2D and 3D.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user is free to model whatever 2d mesh they want to.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Structured meshes don’t follow the contours of the model. Need high degree of refinement to be accurate for model.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Unstructured meshes accurately follow the contour of the model.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A8C561-C549-9726-BB5A-F43A983F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" t="49452"/>
          <a:stretch/>
        </p:blipFill>
        <p:spPr>
          <a:xfrm>
            <a:off x="332214" y="1280241"/>
            <a:ext cx="3282977" cy="10239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D58F84-6175-D3AA-CB32-7E9B55FD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27" y="2346186"/>
            <a:ext cx="3527949" cy="4415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E22992-5C30-7AB8-CE41-0DFB3324370E}"/>
              </a:ext>
            </a:extLst>
          </p:cNvPr>
          <p:cNvSpPr txBox="1"/>
          <p:nvPr/>
        </p:nvSpPr>
        <p:spPr>
          <a:xfrm>
            <a:off x="3681950" y="3225644"/>
            <a:ext cx="341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Structured mesh with 76168 elements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2751FA-3832-22E3-5A26-16484252D6DD}"/>
              </a:ext>
            </a:extLst>
          </p:cNvPr>
          <p:cNvSpPr txBox="1"/>
          <p:nvPr/>
        </p:nvSpPr>
        <p:spPr>
          <a:xfrm>
            <a:off x="3681950" y="5301169"/>
            <a:ext cx="317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Unstructured mesh with 2658 elements</a:t>
            </a:r>
          </a:p>
        </p:txBody>
      </p:sp>
    </p:spTree>
    <p:extLst>
      <p:ext uri="{BB962C8B-B14F-4D97-AF65-F5344CB8AC3E}">
        <p14:creationId xmlns:p14="http://schemas.microsoft.com/office/powerpoint/2010/main" val="356873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75F6-1F51-EDD5-958D-DEB72958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7"/>
            <a:ext cx="3595634" cy="618534"/>
          </a:xfrm>
        </p:spPr>
        <p:txBody>
          <a:bodyPr>
            <a:normAutofit/>
          </a:bodyPr>
          <a:lstStyle/>
          <a:p>
            <a:r>
              <a:rPr lang="en-IN"/>
              <a:t>Methodology </a:t>
            </a:r>
            <a:endParaRPr lang="en-IN" dirty="0"/>
          </a:p>
        </p:txBody>
      </p:sp>
      <p:pic>
        <p:nvPicPr>
          <p:cNvPr id="14" name="Content Placeholder 13" descr="A diagram of a design process&#10;&#10;AI-generated content may be incorrect.">
            <a:extLst>
              <a:ext uri="{FF2B5EF4-FFF2-40B4-BE49-F238E27FC236}">
                <a16:creationId xmlns:a16="http://schemas.microsoft.com/office/drawing/2014/main" id="{D7C681D9-1FBD-7F79-D08C-747D03128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2" y="2263515"/>
            <a:ext cx="8087659" cy="377741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C8E401-DF44-63CA-7209-7463EF0F8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659" y="3429000"/>
            <a:ext cx="4113640" cy="18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1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D096-B77B-ABF9-0042-4FFE0AE1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84" y="290480"/>
            <a:ext cx="5929773" cy="62391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Finite element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8EAC2D-8CC0-653C-209B-83EEAFB7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04" y="1490511"/>
            <a:ext cx="10136674" cy="49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8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C04B-5106-C3B3-CE1C-1100036D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07" y="346768"/>
            <a:ext cx="4416552" cy="22508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Finite element analysis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B3C30ED-42CE-1AB3-9C3C-B52E685BE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42" b="270"/>
          <a:stretch/>
        </p:blipFill>
        <p:spPr>
          <a:xfrm>
            <a:off x="55729" y="2064511"/>
            <a:ext cx="6071589" cy="37366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98CF5-3769-8AAE-3289-1BA54FD5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3" r="2" b="7063"/>
          <a:stretch/>
        </p:blipFill>
        <p:spPr>
          <a:xfrm>
            <a:off x="6127318" y="2064511"/>
            <a:ext cx="6064682" cy="37366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DEA9FB-93AA-9CD6-FD8F-4D192EBA59A4}"/>
              </a:ext>
            </a:extLst>
          </p:cNvPr>
          <p:cNvSpPr txBox="1"/>
          <p:nvPr/>
        </p:nvSpPr>
        <p:spPr>
          <a:xfrm>
            <a:off x="1314830" y="5861154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 applied on orange edges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29CD2-EAFE-9F9E-96F2-A68B6A5B0AC3}"/>
              </a:ext>
            </a:extLst>
          </p:cNvPr>
          <p:cNvSpPr txBox="1"/>
          <p:nvPr/>
        </p:nvSpPr>
        <p:spPr>
          <a:xfrm>
            <a:off x="7438675" y="5864901"/>
            <a:ext cx="302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Fixed boundary conditions</a:t>
            </a:r>
          </a:p>
          <a:p>
            <a:pPr algn="ctr"/>
            <a:r>
              <a:rPr lang="en-IN" dirty="0"/>
              <a:t>applied on orange edges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32939-BE53-774F-ED10-2EB2045DD5E2}"/>
              </a:ext>
            </a:extLst>
          </p:cNvPr>
          <p:cNvSpPr txBox="1"/>
          <p:nvPr/>
        </p:nvSpPr>
        <p:spPr>
          <a:xfrm>
            <a:off x="4410285" y="1311853"/>
            <a:ext cx="337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2D CST unstructured meshes</a:t>
            </a:r>
          </a:p>
        </p:txBody>
      </p:sp>
    </p:spTree>
    <p:extLst>
      <p:ext uri="{BB962C8B-B14F-4D97-AF65-F5344CB8AC3E}">
        <p14:creationId xmlns:p14="http://schemas.microsoft.com/office/powerpoint/2010/main" val="164059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BBF405DA-2BB2-C889-BD82-A1062E2F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924" y="2869367"/>
            <a:ext cx="6280150" cy="2510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A2C24-F599-C3C9-C2F9-03A1E544E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924" y="416212"/>
            <a:ext cx="6280151" cy="2092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11F4F5-C8AF-D389-16A9-0E964B597119}"/>
              </a:ext>
            </a:extLst>
          </p:cNvPr>
          <p:cNvSpPr txBox="1"/>
          <p:nvPr/>
        </p:nvSpPr>
        <p:spPr>
          <a:xfrm>
            <a:off x="5144455" y="2485845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Undeformed mesh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732122-E8B1-E746-D0CF-D677CF818C04}"/>
              </a:ext>
            </a:extLst>
          </p:cNvPr>
          <p:cNvSpPr txBox="1"/>
          <p:nvPr/>
        </p:nvSpPr>
        <p:spPr>
          <a:xfrm>
            <a:off x="5275901" y="5380094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Deformed mesh</a:t>
            </a:r>
          </a:p>
        </p:txBody>
      </p:sp>
    </p:spTree>
    <p:extLst>
      <p:ext uri="{BB962C8B-B14F-4D97-AF65-F5344CB8AC3E}">
        <p14:creationId xmlns:p14="http://schemas.microsoft.com/office/powerpoint/2010/main" val="226892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5380-ABC4-9354-DDBE-2AA349BB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06" y="176285"/>
            <a:ext cx="4563859" cy="1456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Sensitivity filtering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DCF0B4F-E986-1119-14D1-B5DF542194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487" r="4" b="15062"/>
          <a:stretch/>
        </p:blipFill>
        <p:spPr>
          <a:xfrm>
            <a:off x="9172315" y="10"/>
            <a:ext cx="3019683" cy="34054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AB969-2C6D-ECEC-2727-4811EDC8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5006" y="2111098"/>
            <a:ext cx="4563859" cy="35103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Involves finding out the </a:t>
            </a:r>
            <a:r>
              <a:rPr lang="en-US" sz="1500" dirty="0" err="1">
                <a:solidFill>
                  <a:schemeClr val="tx1"/>
                </a:solidFill>
              </a:rPr>
              <a:t>neighbouring</a:t>
            </a:r>
            <a:r>
              <a:rPr lang="en-US" sz="1500" dirty="0">
                <a:solidFill>
                  <a:schemeClr val="tx1"/>
                </a:solidFill>
              </a:rPr>
              <a:t> triangles and the distance from them.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Unstructured meshes are difficult in dealing with sensitivities since they don’t have a orderly element numbering to be exploited for filtering the </a:t>
            </a:r>
            <a:r>
              <a:rPr lang="en-US" sz="1500" dirty="0" err="1">
                <a:solidFill>
                  <a:schemeClr val="tx1"/>
                </a:solidFill>
              </a:rPr>
              <a:t>neighbouring</a:t>
            </a:r>
            <a:r>
              <a:rPr lang="en-US" sz="1500" dirty="0">
                <a:solidFill>
                  <a:schemeClr val="tx1"/>
                </a:solidFill>
              </a:rPr>
              <a:t> elements based on distance.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custom recursive algorithm was developed using mesh tools from Blender to define the   “levels ” of filtering.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calculates the adjacent elements recursively based on the element connectivity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92663F-DD74-17C0-DB87-D6B599FC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4" r="4" b="3505"/>
          <a:stretch/>
        </p:blipFill>
        <p:spPr>
          <a:xfrm>
            <a:off x="6101708" y="10"/>
            <a:ext cx="3019679" cy="3405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19582D-0903-8FB5-33B0-8B0559B160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77" r="3221" b="5"/>
          <a:stretch/>
        </p:blipFill>
        <p:spPr>
          <a:xfrm>
            <a:off x="6101708" y="3458219"/>
            <a:ext cx="3019679" cy="3403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D3EFAC-D891-57BE-C002-384304BE69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21"/>
          <a:stretch/>
        </p:blipFill>
        <p:spPr>
          <a:xfrm>
            <a:off x="9172314" y="3458219"/>
            <a:ext cx="3019685" cy="340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8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7E61AA-C711-603B-6AA5-1811864FA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566" y="817755"/>
            <a:ext cx="2401972" cy="24756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7B80B-B399-4749-BBA0-76424C45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728" y="817755"/>
            <a:ext cx="2430741" cy="24686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92A6A1-C3B8-C31A-F806-D62D1F45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436" y="821777"/>
            <a:ext cx="2298616" cy="2471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C4C16B-30F5-D772-5F5F-8F8B1D017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690" y="3817103"/>
            <a:ext cx="2728536" cy="2401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675A48-5220-DCFB-EAF6-14E42BA49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69" y="3757234"/>
            <a:ext cx="2730859" cy="2464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53512-847B-A5BF-6767-86E0F9EDB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6433" y="3749592"/>
            <a:ext cx="2640238" cy="24686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00C553-2F8C-3EF9-EC4A-9377C39DCC31}"/>
              </a:ext>
            </a:extLst>
          </p:cNvPr>
          <p:cNvSpPr txBox="1"/>
          <p:nvPr/>
        </p:nvSpPr>
        <p:spPr>
          <a:xfrm>
            <a:off x="2466306" y="3220535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filtering,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radius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BA543-AB12-1BE2-B1FB-0138CD77012E}"/>
              </a:ext>
            </a:extLst>
          </p:cNvPr>
          <p:cNvSpPr txBox="1"/>
          <p:nvPr/>
        </p:nvSpPr>
        <p:spPr>
          <a:xfrm>
            <a:off x="5207776" y="3220535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filtering,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radius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2BFFBD-9EFB-076D-78FF-7DFE9E563E7D}"/>
              </a:ext>
            </a:extLst>
          </p:cNvPr>
          <p:cNvSpPr txBox="1"/>
          <p:nvPr/>
        </p:nvSpPr>
        <p:spPr>
          <a:xfrm>
            <a:off x="7848513" y="3220535"/>
            <a:ext cx="1877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 filtering, </a:t>
            </a:r>
          </a:p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Filltering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radius 3</a:t>
            </a:r>
          </a:p>
        </p:txBody>
      </p:sp>
    </p:spTree>
    <p:extLst>
      <p:ext uri="{BB962C8B-B14F-4D97-AF65-F5344CB8AC3E}">
        <p14:creationId xmlns:p14="http://schemas.microsoft.com/office/powerpoint/2010/main" val="5836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CE5E-DBE2-5583-3532-367D96E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9535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Further improvement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CCDAA-DE19-11AA-305C-E6F9FE629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688" y="2704750"/>
            <a:ext cx="5953569" cy="1789526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mesh has a lot of structured right isosceles elements which are identical in shape and size.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property can be exploited to copy the stiffness matrices instead of creating one every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1763A0-D0D4-3091-40B1-695A8E69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17" r="-2" b="20178"/>
          <a:stretch/>
        </p:blipFill>
        <p:spPr>
          <a:xfrm>
            <a:off x="7435018" y="10"/>
            <a:ext cx="4756982" cy="3405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FF0DB9-6AA6-4BDC-CD6F-7AF523F5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50" r="-4" b="6298"/>
          <a:stretch/>
        </p:blipFill>
        <p:spPr>
          <a:xfrm>
            <a:off x="7435018" y="3454171"/>
            <a:ext cx="4756982" cy="34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5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3269D4-703D-3447-EAD6-3CAFFCDD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7"/>
            <a:ext cx="3595634" cy="888558"/>
          </a:xfrm>
        </p:spPr>
        <p:txBody>
          <a:bodyPr>
            <a:normAutofit/>
          </a:bodyPr>
          <a:lstStyle/>
          <a:p>
            <a:r>
              <a:rPr lang="en-IN" dirty="0"/>
              <a:t>Solution scheme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9B19A3-2848-B453-6147-F13AC2FF3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8631" y="143237"/>
            <a:ext cx="4126952" cy="396020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5D8744-B47F-D100-CE89-0207D7604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1497407"/>
            <a:ext cx="3595634" cy="454260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model is solved by </a:t>
            </a:r>
            <a:r>
              <a:rPr lang="en-US" sz="2400" dirty="0"/>
              <a:t>heuristic updating scheme for the design variables by </a:t>
            </a:r>
            <a:r>
              <a:rPr lang="en-US" sz="2400" dirty="0" err="1"/>
              <a:t>Bendsoe</a:t>
            </a:r>
            <a:r>
              <a:rPr lang="en-US" sz="2400" dirty="0"/>
              <a:t>. (Refer to </a:t>
            </a:r>
            <a:r>
              <a:rPr lang="en-US" sz="2400" dirty="0" err="1"/>
              <a:t>topopt</a:t>
            </a:r>
            <a:r>
              <a:rPr lang="en-US" sz="2400" dirty="0"/>
              <a:t> 99). This is to satisfy the volume fraction constraint.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scheme is used to satisfy the volume constraint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AF4C0C-34A5-5090-D194-1F1CE1090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670" y="4523841"/>
            <a:ext cx="3815075" cy="204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2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2DCAABFA-501E-9B45-1384-F5E003E9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" y="1011043"/>
            <a:ext cx="5536367" cy="129850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97754A9-62CB-CD27-EE31-CE7824385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" t="23216" r="-1" b="13931"/>
          <a:stretch/>
        </p:blipFill>
        <p:spPr>
          <a:xfrm>
            <a:off x="271477" y="2265564"/>
            <a:ext cx="5332299" cy="1163436"/>
          </a:xfrm>
          <a:prstGeom prst="rect">
            <a:avLst/>
          </a:prstGeom>
        </p:spPr>
      </p:pic>
      <p:sp>
        <p:nvSpPr>
          <p:cNvPr id="45" name="Title 44">
            <a:extLst>
              <a:ext uri="{FF2B5EF4-FFF2-40B4-BE49-F238E27FC236}">
                <a16:creationId xmlns:a16="http://schemas.microsoft.com/office/drawing/2014/main" id="{EDE16080-E5FE-B8B3-E8FA-50FB2187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6395"/>
            <a:ext cx="10058400" cy="56034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Implementation and results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72CA5-6AF3-FDB0-4881-DD255B553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50" y="1061809"/>
            <a:ext cx="5536366" cy="1991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C2112-CFDB-51BC-B5E7-C82AA655C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91" y="3461605"/>
            <a:ext cx="4427273" cy="325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01DC9-CFA0-3EE8-91B0-9FA78E382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712" y="3200400"/>
            <a:ext cx="5160977" cy="34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5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A149D-B153-A562-093A-EE8C3F282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15" y="34051"/>
            <a:ext cx="4797054" cy="3381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D9EF53-0306-004B-365A-D9AE097FE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40" y="279269"/>
            <a:ext cx="5627423" cy="3068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5F3425-290B-951C-F787-6917CEA46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71" y="3365911"/>
            <a:ext cx="4816656" cy="3432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54198A-A7A5-815A-D6A2-8555DF2A6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197" y="3441955"/>
            <a:ext cx="6502803" cy="29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9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4CE28B-F7C6-5406-5B9A-987FB310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7545"/>
            <a:ext cx="5851964" cy="3197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3ABC0-CFDA-D82A-205A-0F6E78457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43" y="1817474"/>
            <a:ext cx="6277859" cy="349287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87A7E9E-B03D-1245-7442-5CB4F19B5EB5}"/>
              </a:ext>
            </a:extLst>
          </p:cNvPr>
          <p:cNvSpPr txBox="1">
            <a:spLocks/>
          </p:cNvSpPr>
          <p:nvPr/>
        </p:nvSpPr>
        <p:spPr>
          <a:xfrm>
            <a:off x="1209706" y="82227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51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83114-EF15-D643-935F-567E1FF47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04" y="5130862"/>
            <a:ext cx="4527961" cy="1629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B6DAE8-1FA9-3CAB-15DB-A1A4BFCD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1" y="4617515"/>
            <a:ext cx="3006610" cy="2207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45CF27-B0B4-23E2-FD88-4ADBEE32A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227" y="-53522"/>
            <a:ext cx="3687503" cy="2485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1E76E3-C59D-E283-D694-BEE63CE25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09" y="104956"/>
            <a:ext cx="2929258" cy="206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4FBD9D-7907-BC38-C1C4-F89624A20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524" y="200595"/>
            <a:ext cx="3436312" cy="1873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43BE35-E230-9385-DFB4-439C1883A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3" y="2265051"/>
            <a:ext cx="2941227" cy="2095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D3C222-9F21-F02C-950E-FD7198D687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8700" y="2397319"/>
            <a:ext cx="4527961" cy="2058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F4A792-646A-5803-582E-4BC45D1A51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2971" y="2599512"/>
            <a:ext cx="3766019" cy="20579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A273F5-5C08-5A91-7F4D-9A1A709EC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8591" y="4825092"/>
            <a:ext cx="3614777" cy="20111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49CD73-BDD8-4E18-BE3B-E9DB6D4D6877}"/>
              </a:ext>
            </a:extLst>
          </p:cNvPr>
          <p:cNvSpPr txBox="1"/>
          <p:nvPr/>
        </p:nvSpPr>
        <p:spPr>
          <a:xfrm>
            <a:off x="59944" y="6402"/>
            <a:ext cx="31440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9A7778-2318-A5C1-4D6A-7911892DB331}"/>
              </a:ext>
            </a:extLst>
          </p:cNvPr>
          <p:cNvSpPr txBox="1"/>
          <p:nvPr/>
        </p:nvSpPr>
        <p:spPr>
          <a:xfrm>
            <a:off x="3484704" y="2339354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619A9-3279-C860-E845-D2F92EF4048E}"/>
              </a:ext>
            </a:extLst>
          </p:cNvPr>
          <p:cNvSpPr txBox="1"/>
          <p:nvPr/>
        </p:nvSpPr>
        <p:spPr>
          <a:xfrm>
            <a:off x="68322" y="2343740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0B006-FAA9-8F3D-DB15-FC86842390BD}"/>
              </a:ext>
            </a:extLst>
          </p:cNvPr>
          <p:cNvSpPr txBox="1"/>
          <p:nvPr/>
        </p:nvSpPr>
        <p:spPr>
          <a:xfrm>
            <a:off x="3484835" y="15929"/>
            <a:ext cx="3433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FCAD6-459C-618D-D32D-0F3C2BB2A30A}"/>
              </a:ext>
            </a:extLst>
          </p:cNvPr>
          <p:cNvSpPr txBox="1"/>
          <p:nvPr/>
        </p:nvSpPr>
        <p:spPr>
          <a:xfrm>
            <a:off x="68322" y="4455760"/>
            <a:ext cx="3449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73E4F6-A4AB-718D-93BC-4007D22F0472}"/>
              </a:ext>
            </a:extLst>
          </p:cNvPr>
          <p:cNvSpPr txBox="1"/>
          <p:nvPr/>
        </p:nvSpPr>
        <p:spPr>
          <a:xfrm>
            <a:off x="3484704" y="4432849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50374-9475-BD20-7BEF-7F3E762032E5}"/>
              </a:ext>
            </a:extLst>
          </p:cNvPr>
          <p:cNvSpPr txBox="1"/>
          <p:nvPr/>
        </p:nvSpPr>
        <p:spPr>
          <a:xfrm>
            <a:off x="7977776" y="17039"/>
            <a:ext cx="348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484E14-6994-C2A8-865B-9392AE7D2F70}"/>
              </a:ext>
            </a:extLst>
          </p:cNvPr>
          <p:cNvSpPr txBox="1"/>
          <p:nvPr/>
        </p:nvSpPr>
        <p:spPr>
          <a:xfrm>
            <a:off x="7995749" y="2344961"/>
            <a:ext cx="3481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CF4F1-5E37-F9F1-5C2F-D28A29CB89C2}"/>
              </a:ext>
            </a:extLst>
          </p:cNvPr>
          <p:cNvSpPr txBox="1"/>
          <p:nvPr/>
        </p:nvSpPr>
        <p:spPr>
          <a:xfrm>
            <a:off x="7977776" y="4394183"/>
            <a:ext cx="2439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85420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rectangular object with green lines&#10;&#10;AI-generated content may be incorrect.">
            <a:extLst>
              <a:ext uri="{FF2B5EF4-FFF2-40B4-BE49-F238E27FC236}">
                <a16:creationId xmlns:a16="http://schemas.microsoft.com/office/drawing/2014/main" id="{88C0D678-9C95-6386-3C90-7B73716F6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9" y="3429000"/>
            <a:ext cx="11926964" cy="32294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B743AC-E1FB-0786-9024-51614350A8B4}"/>
              </a:ext>
            </a:extLst>
          </p:cNvPr>
          <p:cNvCxnSpPr>
            <a:cxnSpLocks/>
          </p:cNvCxnSpPr>
          <p:nvPr/>
        </p:nvCxnSpPr>
        <p:spPr>
          <a:xfrm flipV="1">
            <a:off x="3412124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184394-BF8F-E9AA-5596-90101F53E008}"/>
              </a:ext>
            </a:extLst>
          </p:cNvPr>
          <p:cNvCxnSpPr>
            <a:cxnSpLocks/>
          </p:cNvCxnSpPr>
          <p:nvPr/>
        </p:nvCxnSpPr>
        <p:spPr>
          <a:xfrm flipV="1">
            <a:off x="3705673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79BB31-8C1B-FB08-F20A-3E7FB1867BE1}"/>
              </a:ext>
            </a:extLst>
          </p:cNvPr>
          <p:cNvCxnSpPr>
            <a:cxnSpLocks/>
          </p:cNvCxnSpPr>
          <p:nvPr/>
        </p:nvCxnSpPr>
        <p:spPr>
          <a:xfrm flipV="1">
            <a:off x="4006382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524090-1E2C-EF8B-F8DD-E356F92BED01}"/>
              </a:ext>
            </a:extLst>
          </p:cNvPr>
          <p:cNvCxnSpPr>
            <a:cxnSpLocks/>
          </p:cNvCxnSpPr>
          <p:nvPr/>
        </p:nvCxnSpPr>
        <p:spPr>
          <a:xfrm flipV="1">
            <a:off x="4299931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25AB27-2030-72A7-F85E-0091E9D0ED7C}"/>
              </a:ext>
            </a:extLst>
          </p:cNvPr>
          <p:cNvCxnSpPr>
            <a:cxnSpLocks/>
          </p:cNvCxnSpPr>
          <p:nvPr/>
        </p:nvCxnSpPr>
        <p:spPr>
          <a:xfrm flipV="1">
            <a:off x="4626210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1A7F28-E1B2-DE24-84F9-1899F2ECF49F}"/>
              </a:ext>
            </a:extLst>
          </p:cNvPr>
          <p:cNvCxnSpPr>
            <a:cxnSpLocks/>
          </p:cNvCxnSpPr>
          <p:nvPr/>
        </p:nvCxnSpPr>
        <p:spPr>
          <a:xfrm flipV="1">
            <a:off x="4919759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89DF64-5C4E-9143-D071-D5746649F78B}"/>
              </a:ext>
            </a:extLst>
          </p:cNvPr>
          <p:cNvCxnSpPr>
            <a:cxnSpLocks/>
          </p:cNvCxnSpPr>
          <p:nvPr/>
        </p:nvCxnSpPr>
        <p:spPr>
          <a:xfrm flipV="1">
            <a:off x="5220468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BFCBC8-9195-01B4-E1CE-F8E77DED0384}"/>
              </a:ext>
            </a:extLst>
          </p:cNvPr>
          <p:cNvCxnSpPr>
            <a:cxnSpLocks/>
          </p:cNvCxnSpPr>
          <p:nvPr/>
        </p:nvCxnSpPr>
        <p:spPr>
          <a:xfrm flipV="1">
            <a:off x="5514017" y="5622117"/>
            <a:ext cx="0" cy="6689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01C94B-ABC3-648A-005C-F4CA5F600645}"/>
              </a:ext>
            </a:extLst>
          </p:cNvPr>
          <p:cNvCxnSpPr>
            <a:cxnSpLocks/>
          </p:cNvCxnSpPr>
          <p:nvPr/>
        </p:nvCxnSpPr>
        <p:spPr>
          <a:xfrm>
            <a:off x="10960638" y="4376321"/>
            <a:ext cx="92053" cy="3191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98129A-0275-1110-062E-133FF7EBB0EF}"/>
              </a:ext>
            </a:extLst>
          </p:cNvPr>
          <p:cNvCxnSpPr>
            <a:cxnSpLocks/>
          </p:cNvCxnSpPr>
          <p:nvPr/>
        </p:nvCxnSpPr>
        <p:spPr>
          <a:xfrm>
            <a:off x="10652657" y="4419282"/>
            <a:ext cx="190643" cy="33049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99F15E-589C-D816-2DB5-8EB07452907C}"/>
              </a:ext>
            </a:extLst>
          </p:cNvPr>
          <p:cNvCxnSpPr>
            <a:cxnSpLocks/>
          </p:cNvCxnSpPr>
          <p:nvPr/>
        </p:nvCxnSpPr>
        <p:spPr>
          <a:xfrm>
            <a:off x="11187816" y="4339499"/>
            <a:ext cx="92053" cy="3191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51BD2E-A02A-D504-212A-0AD93248A4CF}"/>
              </a:ext>
            </a:extLst>
          </p:cNvPr>
          <p:cNvCxnSpPr>
            <a:cxnSpLocks/>
          </p:cNvCxnSpPr>
          <p:nvPr/>
        </p:nvCxnSpPr>
        <p:spPr>
          <a:xfrm>
            <a:off x="11395224" y="4970581"/>
            <a:ext cx="92053" cy="3191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B116BE-B95A-A46E-EC61-1F0DE19CFC0A}"/>
              </a:ext>
            </a:extLst>
          </p:cNvPr>
          <p:cNvCxnSpPr>
            <a:cxnSpLocks/>
          </p:cNvCxnSpPr>
          <p:nvPr/>
        </p:nvCxnSpPr>
        <p:spPr>
          <a:xfrm>
            <a:off x="11205205" y="5043713"/>
            <a:ext cx="92053" cy="3191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FDF955-5F43-D98C-CF00-555D12B2C6F6}"/>
              </a:ext>
            </a:extLst>
          </p:cNvPr>
          <p:cNvCxnSpPr>
            <a:cxnSpLocks/>
          </p:cNvCxnSpPr>
          <p:nvPr/>
        </p:nvCxnSpPr>
        <p:spPr>
          <a:xfrm flipH="1">
            <a:off x="10928818" y="5043713"/>
            <a:ext cx="105351" cy="3275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EDAC0E-DE01-B631-4126-4CA65CFEF8B7}"/>
              </a:ext>
            </a:extLst>
          </p:cNvPr>
          <p:cNvCxnSpPr>
            <a:cxnSpLocks/>
          </p:cNvCxnSpPr>
          <p:nvPr/>
        </p:nvCxnSpPr>
        <p:spPr>
          <a:xfrm flipH="1">
            <a:off x="10721535" y="5013794"/>
            <a:ext cx="121765" cy="2326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7252DA-861B-8C9B-19E3-B8D61620AC0A}"/>
              </a:ext>
            </a:extLst>
          </p:cNvPr>
          <p:cNvCxnSpPr>
            <a:cxnSpLocks/>
          </p:cNvCxnSpPr>
          <p:nvPr/>
        </p:nvCxnSpPr>
        <p:spPr>
          <a:xfrm flipV="1">
            <a:off x="10532956" y="4854106"/>
            <a:ext cx="298182" cy="553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EC9C8EA4-090B-54E4-0857-B1A1F075C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77" y="37714"/>
            <a:ext cx="11780790" cy="341508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7DBC8FC-13A1-0767-38E7-C2BB7C243203}"/>
              </a:ext>
            </a:extLst>
          </p:cNvPr>
          <p:cNvSpPr txBox="1"/>
          <p:nvPr/>
        </p:nvSpPr>
        <p:spPr>
          <a:xfrm>
            <a:off x="609600" y="287867"/>
            <a:ext cx="32092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D15ABA-4FDA-A4E9-B69A-A061D92A4137}"/>
              </a:ext>
            </a:extLst>
          </p:cNvPr>
          <p:cNvSpPr txBox="1"/>
          <p:nvPr/>
        </p:nvSpPr>
        <p:spPr>
          <a:xfrm>
            <a:off x="579031" y="3561391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3322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0E90E6-2E74-6DC4-DC89-E12274759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53" y="1075845"/>
            <a:ext cx="3527949" cy="44152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B412BE-019D-7978-A1A0-5D76AC5D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415" y="1075845"/>
            <a:ext cx="5410832" cy="4631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9DB563-6799-6382-051F-8234903CCA45}"/>
              </a:ext>
            </a:extLst>
          </p:cNvPr>
          <p:cNvSpPr txBox="1"/>
          <p:nvPr/>
        </p:nvSpPr>
        <p:spPr>
          <a:xfrm>
            <a:off x="1606446" y="1182271"/>
            <a:ext cx="4443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A1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E85AF-4865-D6F5-B2B5-27350155A7E2}"/>
              </a:ext>
            </a:extLst>
          </p:cNvPr>
          <p:cNvSpPr txBox="1"/>
          <p:nvPr/>
        </p:nvSpPr>
        <p:spPr>
          <a:xfrm>
            <a:off x="5361482" y="1182271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0458B-4C4E-9225-D649-D6EC5A792742}"/>
              </a:ext>
            </a:extLst>
          </p:cNvPr>
          <p:cNvSpPr txBox="1"/>
          <p:nvPr/>
        </p:nvSpPr>
        <p:spPr>
          <a:xfrm>
            <a:off x="1606446" y="3152001"/>
            <a:ext cx="4443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987372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5A4E0-E288-75FC-9160-069DDD51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303" y="82447"/>
            <a:ext cx="6282044" cy="662837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42A0AD-7405-FD26-C789-D904190E5248}"/>
              </a:ext>
            </a:extLst>
          </p:cNvPr>
          <p:cNvCxnSpPr>
            <a:cxnSpLocks/>
          </p:cNvCxnSpPr>
          <p:nvPr/>
        </p:nvCxnSpPr>
        <p:spPr>
          <a:xfrm flipH="1" flipV="1">
            <a:off x="4774518" y="1693788"/>
            <a:ext cx="1227383" cy="9880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852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424</Words>
  <Application>Microsoft Office PowerPoint</Application>
  <PresentationFormat>Widescreen</PresentationFormat>
  <Paragraphs>59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2D Topology optimisation code for unstructured meshes in Blender (BlenderTopOpt) and its applications</vt:lpstr>
      <vt:lpstr>Project Description</vt:lpstr>
      <vt:lpstr>What is Blender and why unstructured meshes?</vt:lpstr>
      <vt:lpstr>Methodology </vt:lpstr>
      <vt:lpstr>Finite element analysis</vt:lpstr>
      <vt:lpstr>Finite element analysis</vt:lpstr>
      <vt:lpstr>PowerPoint Presentation</vt:lpstr>
      <vt:lpstr>Sensitivity filtering</vt:lpstr>
      <vt:lpstr>PowerPoint Presentation</vt:lpstr>
      <vt:lpstr>Further improvement</vt:lpstr>
      <vt:lpstr>Solution scheme</vt:lpstr>
      <vt:lpstr>Implementation and 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Chandrasekaran</dc:creator>
  <cp:lastModifiedBy>Karthik Chandrasekaran</cp:lastModifiedBy>
  <cp:revision>24</cp:revision>
  <dcterms:created xsi:type="dcterms:W3CDTF">2025-04-24T22:12:08Z</dcterms:created>
  <dcterms:modified xsi:type="dcterms:W3CDTF">2025-05-01T00:41:21Z</dcterms:modified>
</cp:coreProperties>
</file>